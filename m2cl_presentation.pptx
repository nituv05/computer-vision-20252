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0"/>
            <a:ext cx="109728" cy="1645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3474720"/>
            <a:ext cx="457200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M²-CL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BDD7EE"/>
                </a:solidFill>
              </a:rPr>
              <a:t>Multi-Scale and Multi-Layer Contrastive Learning
for Domain Generalization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Aristotelis Ballas  ·  Christos Diou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IEEE Transactions on Artificial Intelligence  ·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D7D31"/>
                </a:solidFill>
              </a:rPr>
              <a:t>arXiv: 2308.14418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840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80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39" y="12801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Domain Generalization in image classification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5648"/>
            <a:ext cx="3840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7556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556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75564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Why multi-scale and multi-layer representations?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31136"/>
            <a:ext cx="3840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2311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311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Method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39" y="223113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M²-CL architecture at a glance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06624"/>
            <a:ext cx="3840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27066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7066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Extraction 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39" y="27066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Channel reduction + spatial dropout + pooling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82112"/>
            <a:ext cx="3840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31821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1821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Contrastive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39" y="318211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Multi-level objective function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3840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3657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657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Training 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39" y="365760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Hyperparameters &amp; DomainBed protocol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33088"/>
            <a:ext cx="3840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41330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1330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Datasets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39" y="413308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PACS · VLCS · Office-Home · NICO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08576"/>
            <a:ext cx="3840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" y="46085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6085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39" y="460857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State-of-the-art on all four benchmarks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84064"/>
            <a:ext cx="3840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50840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0840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Ablations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39" y="508406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What each component contributes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559552"/>
            <a:ext cx="38404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" y="5559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559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Conclusion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39" y="555955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Key takeaways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Problem: Domain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Train on multiple source domains → generalize to unseen target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• Deep CNNs overfit to spurious domain-specific cues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• Distribution shift between train and test domains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• No access to target domain data during training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• Real-world need: medical imaging, autonomous driving, 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BDD7EE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376C"/>
                </a:solidFill>
              </a:rPr>
              <a:t>Domain Generalization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376C"/>
                </a:solidFill>
              </a:rPr>
              <a:t>Source Domains
┌─────────────────────────┐
│  D₁: Photo              │
│  D₂: Art Painting       │
│  D₃: Cartoon            │
└─────────────────────────┘
           │  Train
           ▼
     ┌───────────┐
     │   Model   │
     └───────────┘
           │  Evaluate
           ▼
┌─────────────────────────┐
│  D₄: Sketch (unseen)    │
└─────────────────────────┘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Motivation: Multi-Scale &amp; Multi-Layer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Different network depths encode different levels of domain-invariant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</a:rPr>
              <a:t>"Low-level layers capture domain-shared edges and textures.
 High-level layers encode semantic concepts but are domain-biased.
 Combining both scales leads to better domain-invariant representations."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108960"/>
            <a:ext cx="3657600" cy="25603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Early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Edges, textures,
colors — broadly
shared across domains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108960"/>
            <a:ext cx="3657600" cy="2560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3200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Mid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8404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Object parts,
shapes — partially
domain-specific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108960"/>
            <a:ext cx="3657600" cy="2560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200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Late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404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Semantic concepts
— high domain
bias, but task-relevant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376C"/>
                </a:solidFill>
              </a:rPr>
              <a:t>M²-CL exploits ALL layers simultaneously via extraction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Method Overview: M²-CL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ResNet backbone with 13 extraction blocks + multi-layer contrastive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376C"/>
                </a:solidFill>
              </a:rPr>
              <a:t>Input Image (3×224×224)
        │
   ┌────▼─────────────────────────────────────────────┐
   │              ResNet-18 Backbone                   │
   │                                                   │
   │  Layer1 ──► [EB₁] [EB₂] [EB₃] [EB₄]  u¹..u⁴   │
   │  Layer2 ──► [EB₅] [EB₆] [EB₇] [EB₈]  u⁵..u⁸   │
   │  Layer3 ──► [EB₉] [EB₁₀] [EB₁₁] [EB₁₂] u⁹..u¹²│
   │  Layer4 ──► [EB₁₃]                    u¹³       │
   │                   │                              │
   │              Global AvgPool                      │
   └──────────────────────────────────────────────────┘
                       │
              ┌────────▼────────┐
              │  FC Classifier  │
              └────────┬────────┘
                       │
           ┌───────────▼───────────┐
           │  L = L_CE + α·Σ L^(l) │
           └───────────────────────┘
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Extraction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Reduces channels → applies spatial dropout → multi-scale max pooling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76C"/>
                </a:solidFill>
              </a:rPr>
              <a:t>Feature Map  (C × H × W)
        │
   ┌────▼──────────────┐
   │  Conv 1×1 (C→C/r) │  r = 4 (default)
   │  BatchNorm + ReLU  │
   └────────┬──────────┘
            │
   ┌────────▼──────────┐
   │  Spatial Dropout   │  Drops entire feature maps
   └────────┬──────────┘
            │
    ┌───────┼──────────┐
    │       │          │
 Pool 8×8  Pool 4×4  Pool 2×2    ← Early layers  (3 pipelines)
    │       │          │          (Pool 7×7 &amp; 3×3 for later layers)
  MLP     MLP        MLP
    │       │          │
    └───────┴──────────┘
            │
       Concatenate
            │
         Linear
            │
        L2-Norm
            │
        u^(l)  ∈ ℝ¹²⁸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Concentration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Parallel multi-scale pooling captures different spatial granularities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Why parallel (not cascading)?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• Cascading pipelines lose fine-grained spatial information at each stage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• Parallel pipelines independently preserve each spatial resolution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• Ablation result: parallel → 82.83% vs cascading → ~80.0% on PACS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• Early layers (spatial ≥ 8): 3 pipelines at sizes 8×8, 4×4, 2×2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• Later layers (spatial &lt; 8): 2 pipelines at sizes 7×7, 3×3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Spatial Dropout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• Drops entire feature maps (channels), not individual values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• Forces model to learn distributed representations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• With dropout: PACS +1–2.5% over without dropout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• Without dropout: PACS 80.89%, VLCS 73.18%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Multi-Layer Contrastive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Aligns same-class embeddings across all M intermediate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Per-layer probability measure for class c at layer l: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14300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76C"/>
                </a:solidFill>
              </a:rPr>
              <a:t>         Σ_{i,j: y_i=y_j=c}  exp( u_i^(l)ᵀ u_j^(l) / τ )
p^(l)(c) = ─────────────────────────────────────────────────
              Σ_{k,m: k≠m}   exp( u_k^(l)ᵀ u_m^(l) / τ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Layer-wise loss  →  Total loss: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57600"/>
            <a:ext cx="114300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76C"/>
                </a:solidFill>
              </a:rPr>
              <a:t>L^(l) = -Σ_c  log p^(l)(c)
L  =  L_CE  +  α · Σ_{l=1}^{M}  L^(l)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u^(l) : L2-normalized embedding from layer l extraction block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τ     : temperature (default 1.0, optimal in range 0.1–2.0)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α     : contrastive loss weight (default 0.01)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• M     : number of layers = 13 (ResNet-18)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Training Setup &amp; Hyperparameters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DomainBed protocol: leave-one-domain-out, 3 random seeds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75B6"/>
                </a:solidFill>
              </a:rPr>
              <a:t>Hyperparameters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30352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Backbone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74519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ResNet-18 / ResNet-50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21991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21991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Pre-training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21991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ImageNet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9463"/>
            <a:ext cx="530352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9463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569463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SGD (momentum 0.9)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16935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16935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LR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916935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0.001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64407"/>
            <a:ext cx="530352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64407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Epochs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264407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79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11879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Batch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611879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128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59351"/>
            <a:ext cx="530352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59351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959351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0.01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06823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06823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306823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1.0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54295"/>
            <a:ext cx="530352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654295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r (reduction)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654295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01767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01767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Dropout 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001767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0.5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49239"/>
            <a:ext cx="530352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349239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Embed dim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349239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128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696711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696711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Hardware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696711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NVIDIA RTX A5000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75B6"/>
                </a:solidFill>
              </a:rPr>
              <a:t>Training Protocol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874519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Leave-one-domain-out evaluation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Each domain tested as unseen target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Average accuracy over 3 random seeds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Same data splits as DomainBed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ImageNet pre-trained backbone (frozen BN)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Cosine annealing LR schedule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Benchmark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4 standard domain generalization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5120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4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9,991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7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Photo, Art Painting,
Cartoon, Sketch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280160"/>
            <a:ext cx="2834640" cy="5120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VLCS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4 datasets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688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10,729 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5 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4747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PASCAL, LabelMe,
Caltech-101, SUN09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2834640" cy="5120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Office-Home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4 domains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688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15,588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65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Art, Clipart,
Product, RealWorld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280160"/>
            <a:ext cx="2834640" cy="5120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NICO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19 classes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4688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25,000 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19 classes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4747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Test: 3, 5, or 7
contexts held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All evaluated with leave-one-domain-out protocol | Top-1 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Results: PACS &amp; VLCS (ResNet-18)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M²-CL achieves state-of-the-art on both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</a:rPr>
              <a:t>PACS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760720" cy="402336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9164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69164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Cartoon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69164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9164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Sketch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69164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Avg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12264"/>
            <a:ext cx="5760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12264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112264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77.37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112264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75.51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112264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96.11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112264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69.27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112264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84.51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32888"/>
            <a:ext cx="5760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53288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CORAL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253288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76.23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53288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77.01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53288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93.58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53288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70.35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53288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84.29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53512"/>
            <a:ext cx="5760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9535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SagNet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29535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77.55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29535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76.41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29535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95.16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29535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77.89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29535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83.58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74136"/>
            <a:ext cx="5760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37413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SAGM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337413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79.21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337413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77.35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337413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94.61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337413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79.58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337413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82.68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794760"/>
            <a:ext cx="5760720" cy="40233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79476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M²-CL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379476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81.66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379476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78.42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379476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97.00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379476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77.07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379476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83.54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</a:rPr>
              <a:t>VLCS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1691640"/>
            <a:ext cx="5577840" cy="402336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1691640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33488" y="1691640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PASCAL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66176" y="1691640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LabelMe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98864" y="1691640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Caltech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1691640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SUN09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1691640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Avg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2112264"/>
            <a:ext cx="55778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2112264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ERM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33488" y="2112264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72.11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6176" y="2112264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62.14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98864" y="2112264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95.47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31552" y="2112264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69.11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64240" y="2112264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74.71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532888"/>
            <a:ext cx="557784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2532888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CORAL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33488" y="2532888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73.42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66176" y="2532888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63.88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98864" y="2532888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95.32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31552" y="2532888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66.70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64240" y="2532888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74.83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2953512"/>
            <a:ext cx="55778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0" y="2953512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SagNet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33488" y="2953512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73.87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66176" y="2953512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62.69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98864" y="2953512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97.33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31552" y="2953512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68.04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64240" y="2953512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75.48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3374136"/>
            <a:ext cx="557784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0" y="3374136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SAGM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33488" y="3374136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70.97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66176" y="3374136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63.56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98864" y="3374136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96.81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31552" y="3374136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69.33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64240" y="3374136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75.17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00800" y="3794760"/>
            <a:ext cx="5577840" cy="40233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0" y="3794760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M²-CL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33488" y="3794760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73.23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66176" y="3794760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64.12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98864" y="3794760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98.23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31552" y="3794760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75.53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064240" y="3794760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77.78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Bold = M²-CL result    |    +0.86% on PACS avg    |    +2.61% on VLCS avg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Results: Office-Home &amp; NICO (ResNet-18)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M²-CL maintains strong improvements across diverse visual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</a:rPr>
              <a:t>Office-Home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760720" cy="402336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9164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69164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Clipart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69164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9164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69164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Avg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12264"/>
            <a:ext cx="5760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12264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112264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57.45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112264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51.74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112264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68.11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112264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58.27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112264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58.89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32888"/>
            <a:ext cx="5760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53288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CORAL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253288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58.09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53288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52.92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53288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69.17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53288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60.19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53288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60.09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53512"/>
            <a:ext cx="5760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9535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SAGM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29535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57.92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29535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52.65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29535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68.95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29535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59.12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29535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59.66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74136"/>
            <a:ext cx="5760720" cy="40233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37413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M²-CL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337413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58.21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337413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54.02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337413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71.03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337413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69.82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337413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63.27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</a:rPr>
              <a:t>NICO (N = held-out contexts)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1691640"/>
            <a:ext cx="4114800" cy="402336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1691640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4928" y="1691640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N=3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6" y="1691640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N=5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73184" y="1691640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N=7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112264"/>
            <a:ext cx="4114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2112264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ERM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4928" y="2112264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66.77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9056" y="2112264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64.11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73184" y="2112264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59.10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2532888"/>
            <a:ext cx="41148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2532888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CORAL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24928" y="2532888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66.45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49056" y="2532888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64.39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73184" y="2532888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59.43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2953512"/>
            <a:ext cx="4114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2953512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SagNet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4928" y="2953512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66.12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49056" y="2953512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64.77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73184" y="2953512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60.22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74136"/>
            <a:ext cx="4114800" cy="40233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3374136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M²-CL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24928" y="3374136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68.43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49056" y="3374136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65.87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73184" y="3374136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62.19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+3.61% on Office-Home avg    |    +1.66% / +0.87% / +3.09% on NICO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Each component validated on PACS and VLCS (ResNet-18)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24712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2801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2801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VLCS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11247120" cy="43891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76C"/>
                </a:solidFill>
              </a:rPr>
              <a:t>Full M²-CL (with loss)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373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83.54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7373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77.78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94560"/>
            <a:ext cx="1124712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945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M² only (no contrastive loss)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945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82.83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1945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76.11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11247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517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Cascading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6517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80.12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517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73.45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08960"/>
            <a:ext cx="1124712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1089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Without spatial dropout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1089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80.89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1089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73.18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66160"/>
            <a:ext cx="11247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5661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r = 2 (more channels)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5661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81.73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5661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75.34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1124712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0233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r = 6 (fewer channels)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0233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81.44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0233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74.98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80560"/>
            <a:ext cx="11247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4805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τ = 0.1 (low temperature)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4805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81.67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4805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76.02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937760"/>
            <a:ext cx="1124712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9377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τ = 2.0 (high temperature)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9377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83.31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9377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77.61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394960"/>
            <a:ext cx="11247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3949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α = 10⁻⁵ (tiny loss weight)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3949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82.80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3949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76.08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852160"/>
            <a:ext cx="1124712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8521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α = 1.0 (large loss weight)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8521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63.54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58521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57.22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</a:rPr>
              <a:t>M²-CL consistently outperforms baselines on all four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Key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376C"/>
                </a:solidFill>
              </a:rPr>
              <a:t>✓  Multi-scale &amp; multi-layer extraction blocks on 13 ResNet layers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376C"/>
                </a:solidFill>
              </a:rPr>
              <a:t>✓  Novel parallel concentration pipelines with spatial dropout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376C"/>
                </a:solidFill>
              </a:rPr>
              <a:t>✓  Multi-layer contrastive loss that enforces domain-invariant representations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376C"/>
                </a:solidFill>
              </a:rPr>
              <a:t>✓  State-of-the-art results: +0.86% PACS, +2.61% VLCS, +3.61% Office-Home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376C"/>
                </a:solidFill>
              </a:rPr>
              <a:t>✓  Robust to domain shift even with up to 7 unseen NICO contexts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Limitations &amp; 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→  Extension to ViT / transformer backbones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→  Semi-supervised or few-shot domain settings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</a:rPr>
              <a:t>→  Video and 3D domain generalization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[1]  A. Ballas &amp; C. Diou. "M2-CL: Multi-Scale and Multi-Layer Contrastive Learning
     for Domain Generalization." IEEE Trans. AI, 2024. arXiv:2308.14418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[2]  I. Gulrajani &amp; D. Lopez-Paz. "In Search of Lost Domain Generalization."
     ICLR 2021. (DomainBed framework)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[3]  K. He et al. "Deep Residual Learning for Image Recognition." CVPR 2016.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[4]  T. Chen et al. "A Simple Framework for Contrastive Learning of Visual
     Representations." ICML 2020.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[5]  D. Li et al. "Deeper, Broader and Artier Domain Generalization." ICCV 2017.
     (PACS dataset)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[6]  Wang et al. "Generalizing to Unseen Domains: A Survey on Domain
     Generalization." IJCAI 2022.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7EE"/>
                </a:solidFill>
              </a:rPr>
              <a:t>M²-CL | Multi-Scale &amp; Multi-Layer Contrastive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